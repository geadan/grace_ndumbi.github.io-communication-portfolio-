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790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32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26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22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4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41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56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739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134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3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5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1773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59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8171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710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843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49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57EA9C2-4FAF-460A-9F2C-C45FB77A8BD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84C1A66-4258-41F1-8B91-9AEA7C6E1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660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f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fif"/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f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67F111-A222-1C26-08F5-47A0DAA63200}"/>
              </a:ext>
            </a:extLst>
          </p:cNvPr>
          <p:cNvSpPr txBox="1"/>
          <p:nvPr/>
        </p:nvSpPr>
        <p:spPr>
          <a:xfrm>
            <a:off x="0" y="0"/>
            <a:ext cx="12192000" cy="6170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Smart Farming &amp; Precision Agriculture in Kenya</a:t>
            </a:r>
          </a:p>
          <a:p>
            <a:pPr algn="ctr">
              <a:lnSpc>
                <a:spcPct val="250000"/>
              </a:lnSpc>
            </a:pPr>
            <a:r>
              <a:rPr lang="en-US" sz="2200" dirty="0"/>
              <a:t>Innovation in the IT Field: Technology transforming agriculture</a:t>
            </a:r>
          </a:p>
          <a:p>
            <a:pPr algn="ctr">
              <a:lnSpc>
                <a:spcPct val="250000"/>
              </a:lnSpc>
            </a:pPr>
            <a:r>
              <a:rPr lang="en-US" sz="2200" dirty="0"/>
              <a:t>Capstone Project</a:t>
            </a:r>
          </a:p>
          <a:p>
            <a:pPr algn="ctr">
              <a:lnSpc>
                <a:spcPct val="250000"/>
              </a:lnSpc>
            </a:pPr>
            <a:r>
              <a:rPr lang="en-US" sz="2200" dirty="0"/>
              <a:t>BBIT</a:t>
            </a:r>
            <a:br>
              <a:rPr lang="en-US" sz="2200" dirty="0"/>
            </a:br>
            <a:r>
              <a:rPr lang="en-US" sz="2200" dirty="0"/>
              <a:t>Grace Wanjiru Ndumbi</a:t>
            </a:r>
          </a:p>
          <a:p>
            <a:pPr algn="ctr">
              <a:lnSpc>
                <a:spcPct val="250000"/>
              </a:lnSpc>
            </a:pPr>
            <a:r>
              <a:rPr lang="en-US" sz="2200" dirty="0"/>
              <a:t>C027-01-1006/2022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282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388854-2CFC-CB0B-8C05-97011008C9C2}"/>
              </a:ext>
            </a:extLst>
          </p:cNvPr>
          <p:cNvSpPr txBox="1"/>
          <p:nvPr/>
        </p:nvSpPr>
        <p:spPr>
          <a:xfrm>
            <a:off x="0" y="0"/>
            <a:ext cx="12192000" cy="589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What Is Smart Farming?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Use of digital technology in farming</a:t>
            </a:r>
            <a:br>
              <a:rPr lang="en-US" sz="2200" dirty="0"/>
            </a:br>
            <a:r>
              <a:rPr lang="en-US" sz="2200" dirty="0"/>
              <a:t>• Monitors crops &amp; soil conditions</a:t>
            </a:r>
            <a:br>
              <a:rPr lang="en-US" sz="2200" dirty="0"/>
            </a:br>
            <a:r>
              <a:rPr lang="en-US" sz="2200" dirty="0"/>
              <a:t>• Helps plan decisions accurately</a:t>
            </a:r>
            <a:br>
              <a:rPr lang="en-US" sz="2200" dirty="0"/>
            </a:br>
            <a:r>
              <a:rPr lang="en-US" sz="2200" dirty="0"/>
              <a:t>• Improves farming efficiency</a:t>
            </a:r>
            <a:br>
              <a:rPr lang="en-US" sz="2200" dirty="0"/>
            </a:br>
            <a:r>
              <a:rPr lang="en-US" sz="2200" dirty="0"/>
              <a:t>• Uses sensors, drones, data tools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CFB3F4-99D2-458D-2134-AC6573181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0131" y="2312377"/>
            <a:ext cx="6631869" cy="418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639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26F03-F921-DF9E-2665-9DA597438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F26A99-5EBD-6AC7-7E57-5C87055CA895}"/>
              </a:ext>
            </a:extLst>
          </p:cNvPr>
          <p:cNvSpPr txBox="1"/>
          <p:nvPr/>
        </p:nvSpPr>
        <p:spPr>
          <a:xfrm>
            <a:off x="0" y="0"/>
            <a:ext cx="12192000" cy="462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Agriculture in Kenya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Major sector for economy</a:t>
            </a:r>
            <a:br>
              <a:rPr lang="en-US" sz="2200" dirty="0"/>
            </a:br>
            <a:r>
              <a:rPr lang="en-US" sz="2200" dirty="0"/>
              <a:t>• Source of food &amp; income</a:t>
            </a:r>
            <a:br>
              <a:rPr lang="en-US" sz="2200" dirty="0"/>
            </a:br>
            <a:r>
              <a:rPr lang="en-US" sz="2200" dirty="0"/>
              <a:t>• Employs large portion of population</a:t>
            </a:r>
            <a:br>
              <a:rPr lang="en-US" sz="2200" dirty="0"/>
            </a:br>
            <a:r>
              <a:rPr lang="en-US" sz="2200" dirty="0"/>
              <a:t>• Faces climate &amp; resource challenges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6F0434-5AC4-8886-B1CE-59D38DF8A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128" y="3255230"/>
            <a:ext cx="5959583" cy="356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321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753F7-D525-E978-D1CA-5F9E56CD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D6BDCF-0B3D-B193-625D-8A7561248589}"/>
              </a:ext>
            </a:extLst>
          </p:cNvPr>
          <p:cNvSpPr txBox="1"/>
          <p:nvPr/>
        </p:nvSpPr>
        <p:spPr>
          <a:xfrm>
            <a:off x="0" y="0"/>
            <a:ext cx="12192000" cy="462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Key Technologies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IoT soil &amp; moisture sensors</a:t>
            </a:r>
            <a:br>
              <a:rPr lang="en-US" sz="2200" dirty="0"/>
            </a:br>
            <a:r>
              <a:rPr lang="en-US" sz="2200" dirty="0"/>
              <a:t>• Drones for crop monitoring</a:t>
            </a:r>
            <a:br>
              <a:rPr lang="en-US" sz="2200" dirty="0"/>
            </a:br>
            <a:r>
              <a:rPr lang="en-US" sz="2200" dirty="0"/>
              <a:t>• GPS &amp; satellite imagery</a:t>
            </a:r>
            <a:br>
              <a:rPr lang="en-US" sz="2200" dirty="0"/>
            </a:br>
            <a:r>
              <a:rPr lang="en-US" sz="2200" dirty="0"/>
              <a:t>• Mobile apps &amp; analytics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529873-77F1-4FEE-D510-D7341ED43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053" y="3340423"/>
            <a:ext cx="6249866" cy="347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281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47D32-8CD8-26E9-66A6-E948A1B0A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1F8478-943C-F574-4801-489921A2DDBD}"/>
              </a:ext>
            </a:extLst>
          </p:cNvPr>
          <p:cNvSpPr txBox="1"/>
          <p:nvPr/>
        </p:nvSpPr>
        <p:spPr>
          <a:xfrm>
            <a:off x="0" y="8792"/>
            <a:ext cx="12192000" cy="462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IoT &amp; Sensors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Real-time soil data</a:t>
            </a:r>
            <a:br>
              <a:rPr lang="en-US" sz="2200" dirty="0"/>
            </a:br>
            <a:r>
              <a:rPr lang="en-US" sz="2200" dirty="0"/>
              <a:t>• Moisture &amp; nutrient monitoring</a:t>
            </a:r>
            <a:br>
              <a:rPr lang="en-US" sz="2200" dirty="0"/>
            </a:br>
            <a:r>
              <a:rPr lang="en-US" sz="2200" dirty="0"/>
              <a:t>• Improves irrigation planning</a:t>
            </a:r>
            <a:br>
              <a:rPr lang="en-US" sz="2200" dirty="0"/>
            </a:br>
            <a:r>
              <a:rPr lang="en-US" sz="2200" dirty="0"/>
              <a:t>• Saves water &amp; inputs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A5F598-4557-2A01-ABB7-1D1456910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740" y="3455382"/>
            <a:ext cx="7344860" cy="336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418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367F-7B37-F505-D78B-89BFCCD2A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8EDC53-331E-B4E4-701E-B53F7BC3B15A}"/>
              </a:ext>
            </a:extLst>
          </p:cNvPr>
          <p:cNvSpPr txBox="1"/>
          <p:nvPr/>
        </p:nvSpPr>
        <p:spPr>
          <a:xfrm>
            <a:off x="0" y="0"/>
            <a:ext cx="12192000" cy="462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Drones in Farming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Aerial crop inspection</a:t>
            </a:r>
            <a:br>
              <a:rPr lang="en-US" sz="2200" dirty="0"/>
            </a:br>
            <a:r>
              <a:rPr lang="en-US" sz="2200" dirty="0"/>
              <a:t>• Detects pest &amp; disease early</a:t>
            </a:r>
            <a:br>
              <a:rPr lang="en-US" sz="2200" dirty="0"/>
            </a:br>
            <a:r>
              <a:rPr lang="en-US" sz="2200" dirty="0"/>
              <a:t>• Helps plan spraying tasks</a:t>
            </a:r>
            <a:br>
              <a:rPr lang="en-US" sz="2200" dirty="0"/>
            </a:br>
            <a:r>
              <a:rPr lang="en-US" sz="2200" dirty="0"/>
              <a:t>• Reduces time and cost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96C61-A0E8-610F-4AAA-398A5F77E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564" y="2676767"/>
            <a:ext cx="6166338" cy="411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2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CAA18-A80F-3F11-D9B9-38AE6045A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612E8-7915-0F45-32DD-632AC9E0D4C5}"/>
              </a:ext>
            </a:extLst>
          </p:cNvPr>
          <p:cNvSpPr txBox="1"/>
          <p:nvPr/>
        </p:nvSpPr>
        <p:spPr>
          <a:xfrm>
            <a:off x="0" y="0"/>
            <a:ext cx="12192000" cy="462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Data &amp; Decisions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Data collected from tools</a:t>
            </a:r>
            <a:br>
              <a:rPr lang="en-US" sz="2200" dirty="0"/>
            </a:br>
            <a:r>
              <a:rPr lang="en-US" sz="2200" dirty="0"/>
              <a:t>• Analyzed by analytics software</a:t>
            </a:r>
            <a:br>
              <a:rPr lang="en-US" sz="2200" dirty="0"/>
            </a:br>
            <a:r>
              <a:rPr lang="en-US" sz="2200" dirty="0"/>
              <a:t>• Provides farming insights</a:t>
            </a:r>
            <a:br>
              <a:rPr lang="en-US" sz="2200" dirty="0"/>
            </a:br>
            <a:r>
              <a:rPr lang="en-US" sz="2200" dirty="0"/>
              <a:t>• Guides irrigation &amp; input use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DF4011-338E-312A-8826-A020191CA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884" y="2031023"/>
            <a:ext cx="7189115" cy="482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80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45077-0519-AC62-1731-04CE4DF6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FE5226-4869-8097-CA94-3AE762B27FDF}"/>
              </a:ext>
            </a:extLst>
          </p:cNvPr>
          <p:cNvSpPr txBox="1"/>
          <p:nvPr/>
        </p:nvSpPr>
        <p:spPr>
          <a:xfrm>
            <a:off x="0" y="0"/>
            <a:ext cx="12192000" cy="462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Impact in Kenya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Better crop productivity</a:t>
            </a:r>
            <a:br>
              <a:rPr lang="en-US" sz="2200" dirty="0"/>
            </a:br>
            <a:r>
              <a:rPr lang="en-US" sz="2200" dirty="0"/>
              <a:t>• Less waste of resources</a:t>
            </a:r>
            <a:br>
              <a:rPr lang="en-US" sz="2200" dirty="0"/>
            </a:br>
            <a:r>
              <a:rPr lang="en-US" sz="2200" dirty="0"/>
              <a:t>• Faster problem detection</a:t>
            </a:r>
            <a:br>
              <a:rPr lang="en-US" sz="2200" dirty="0"/>
            </a:br>
            <a:r>
              <a:rPr lang="en-US" sz="2200" dirty="0"/>
              <a:t>• Early decision support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20DAF7-76A6-1BF1-D397-28FCA2554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890" y="2317904"/>
            <a:ext cx="6749152" cy="450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309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B6D37-1CEE-82B5-73F2-C0963BCF9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33FF62-9FE8-E7FE-BEC8-D1F8052177E5}"/>
              </a:ext>
            </a:extLst>
          </p:cNvPr>
          <p:cNvSpPr txBox="1"/>
          <p:nvPr/>
        </p:nvSpPr>
        <p:spPr>
          <a:xfrm>
            <a:off x="0" y="0"/>
            <a:ext cx="12192000" cy="462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Kenyan Examples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Tech adoption by farmers</a:t>
            </a:r>
            <a:br>
              <a:rPr lang="en-US" sz="2200" dirty="0"/>
            </a:br>
            <a:r>
              <a:rPr lang="en-US" sz="2200" dirty="0"/>
              <a:t>• Sensor systems in farms</a:t>
            </a:r>
            <a:br>
              <a:rPr lang="en-US" sz="2200" dirty="0"/>
            </a:br>
            <a:r>
              <a:rPr lang="en-US" sz="2200" dirty="0"/>
              <a:t>• Drones used for surveys</a:t>
            </a:r>
            <a:br>
              <a:rPr lang="en-US" sz="2200" dirty="0"/>
            </a:br>
            <a:r>
              <a:rPr lang="en-US" sz="2200" dirty="0"/>
              <a:t>• Mobile tools connect farmers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AC2ABD-E43E-498C-DE60-B3CCE5B75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994" y="2998176"/>
            <a:ext cx="6345113" cy="380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50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A2BEF-257D-CF00-6835-780EDB6C0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1CF207-6F4D-A044-BF4F-509450F1F068}"/>
              </a:ext>
            </a:extLst>
          </p:cNvPr>
          <p:cNvSpPr txBox="1"/>
          <p:nvPr/>
        </p:nvSpPr>
        <p:spPr>
          <a:xfrm>
            <a:off x="0" y="0"/>
            <a:ext cx="12192000" cy="462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Benefits of Smart Farming</a:t>
            </a:r>
          </a:p>
          <a:p>
            <a:pPr>
              <a:lnSpc>
                <a:spcPct val="250000"/>
              </a:lnSpc>
            </a:pPr>
            <a:r>
              <a:rPr lang="en-US" sz="2200" dirty="0"/>
              <a:t>• Increased crop yields</a:t>
            </a:r>
            <a:br>
              <a:rPr lang="en-US" sz="2200" dirty="0"/>
            </a:br>
            <a:r>
              <a:rPr lang="en-US" sz="2200" dirty="0"/>
              <a:t>• Efficient resource use</a:t>
            </a:r>
            <a:br>
              <a:rPr lang="en-US" sz="2200" dirty="0"/>
            </a:br>
            <a:r>
              <a:rPr lang="en-US" sz="2200" dirty="0"/>
              <a:t>• Reduced environmental impact</a:t>
            </a:r>
            <a:br>
              <a:rPr lang="en-US" sz="2200" dirty="0"/>
            </a:br>
            <a:r>
              <a:rPr lang="en-US" sz="2200" dirty="0"/>
              <a:t>• Better market data access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4714AA-2D02-011B-539F-722DF1AB1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985" y="3081160"/>
            <a:ext cx="6620604" cy="372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486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4C72C-6ED9-D11B-095F-D2B7AC03D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8338C7-9812-9AD0-8845-54AB0D4A6496}"/>
              </a:ext>
            </a:extLst>
          </p:cNvPr>
          <p:cNvSpPr txBox="1"/>
          <p:nvPr/>
        </p:nvSpPr>
        <p:spPr>
          <a:xfrm>
            <a:off x="0" y="0"/>
            <a:ext cx="12192000" cy="462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Challenges in Smart Farming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High equipment costs</a:t>
            </a:r>
            <a:br>
              <a:rPr lang="en-US" sz="2200" dirty="0"/>
            </a:br>
            <a:r>
              <a:rPr lang="en-US" sz="2200" dirty="0"/>
              <a:t>• Limited rural internet</a:t>
            </a:r>
            <a:br>
              <a:rPr lang="en-US" sz="2200" dirty="0"/>
            </a:br>
            <a:r>
              <a:rPr lang="en-US" sz="2200" dirty="0"/>
              <a:t>• Need for tech training</a:t>
            </a:r>
            <a:br>
              <a:rPr lang="en-US" sz="2200" dirty="0"/>
            </a:br>
            <a:r>
              <a:rPr lang="en-US" sz="2200" dirty="0"/>
              <a:t>• Adoption is still growing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9936C5-AD2C-4FE1-6206-7E0F9044B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332" y="3385036"/>
            <a:ext cx="5527431" cy="340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4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42147-E2A3-F480-1952-FD7A5626D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E7672D-7B5E-C603-9F1D-EE585B080031}"/>
              </a:ext>
            </a:extLst>
          </p:cNvPr>
          <p:cNvSpPr txBox="1"/>
          <p:nvPr/>
        </p:nvSpPr>
        <p:spPr>
          <a:xfrm>
            <a:off x="0" y="0"/>
            <a:ext cx="12192000" cy="462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Growth Opportunities</a:t>
            </a:r>
          </a:p>
          <a:p>
            <a:pPr>
              <a:lnSpc>
                <a:spcPct val="250000"/>
              </a:lnSpc>
            </a:pPr>
            <a:r>
              <a:rPr lang="en-US" sz="2200" dirty="0"/>
              <a:t>• Mobile-based tools expansion</a:t>
            </a:r>
            <a:br>
              <a:rPr lang="en-US" sz="2200" dirty="0"/>
            </a:br>
            <a:r>
              <a:rPr lang="en-US" sz="2200" dirty="0"/>
              <a:t>• Government support programs</a:t>
            </a:r>
            <a:br>
              <a:rPr lang="en-US" sz="2200" dirty="0"/>
            </a:br>
            <a:r>
              <a:rPr lang="en-US" sz="2200" dirty="0"/>
              <a:t>• </a:t>
            </a:r>
            <a:r>
              <a:rPr lang="en-US" sz="2200" dirty="0" err="1"/>
              <a:t>Agritech</a:t>
            </a:r>
            <a:r>
              <a:rPr lang="en-US" sz="2200" dirty="0"/>
              <a:t> startups emerging</a:t>
            </a:r>
            <a:br>
              <a:rPr lang="en-US" sz="2200" dirty="0"/>
            </a:br>
            <a:r>
              <a:rPr lang="en-US" sz="2200" dirty="0"/>
              <a:t>• Youth involvement increases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20131E-4A3D-0431-585C-2D471C79B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559" y="3990772"/>
            <a:ext cx="5010149" cy="280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5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24FA8-F6E2-DC1C-A501-92C2D1936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04767-8EEA-4DDA-CE6A-A3CD4DFB7DC0}"/>
              </a:ext>
            </a:extLst>
          </p:cNvPr>
          <p:cNvSpPr txBox="1"/>
          <p:nvPr/>
        </p:nvSpPr>
        <p:spPr>
          <a:xfrm>
            <a:off x="0" y="0"/>
            <a:ext cx="12192000" cy="4406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en-US" sz="2800" b="1" dirty="0"/>
              <a:t>Youth &amp; Tech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New jobs for youth</a:t>
            </a:r>
            <a:br>
              <a:rPr lang="en-US" sz="2200" dirty="0"/>
            </a:br>
            <a:r>
              <a:rPr lang="en-US" sz="2200" dirty="0"/>
              <a:t>• Data tech &amp; support roles</a:t>
            </a:r>
            <a:br>
              <a:rPr lang="en-US" sz="2200" dirty="0"/>
            </a:br>
            <a:r>
              <a:rPr lang="en-US" sz="2200" dirty="0"/>
              <a:t>• Skills grow with farming tech</a:t>
            </a:r>
            <a:br>
              <a:rPr lang="en-US" sz="2200" dirty="0"/>
            </a:br>
            <a:r>
              <a:rPr lang="en-US" sz="2200" dirty="0"/>
              <a:t>• Encourages innovation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899F93-6C02-1031-F76A-AD082DF9B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337" y="3228422"/>
            <a:ext cx="6350243" cy="356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575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305CB-C62B-87A0-6C9D-0086A9656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A21BE0-0CFB-82B3-9E26-E7FCC063BE73}"/>
              </a:ext>
            </a:extLst>
          </p:cNvPr>
          <p:cNvSpPr txBox="1"/>
          <p:nvPr/>
        </p:nvSpPr>
        <p:spPr>
          <a:xfrm>
            <a:off x="0" y="0"/>
            <a:ext cx="12192000" cy="403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Food Security</a:t>
            </a:r>
          </a:p>
          <a:p>
            <a:pPr lvl="1">
              <a:lnSpc>
                <a:spcPct val="250000"/>
              </a:lnSpc>
            </a:pPr>
            <a:r>
              <a:rPr lang="en-US" dirty="0"/>
              <a:t>• Stable crop production</a:t>
            </a:r>
            <a:br>
              <a:rPr lang="en-US" dirty="0"/>
            </a:br>
            <a:r>
              <a:rPr lang="en-US" dirty="0"/>
              <a:t>• Efficient use of water &amp; inputs</a:t>
            </a:r>
            <a:br>
              <a:rPr lang="en-US" dirty="0"/>
            </a:br>
            <a:r>
              <a:rPr lang="en-US" dirty="0"/>
              <a:t>• Early problem identification</a:t>
            </a:r>
            <a:br>
              <a:rPr lang="en-US" dirty="0"/>
            </a:br>
            <a:r>
              <a:rPr lang="en-US" dirty="0"/>
              <a:t>• Supports community food needs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C72550-1134-6704-2589-35F354D91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556" y="3701563"/>
            <a:ext cx="5542295" cy="31036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93EAD7-79B4-B3D0-F80C-4E7DC1F6F3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09" y="4061438"/>
            <a:ext cx="3842238" cy="274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188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CA4CB-63A2-4A04-0284-35DC6CF45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665817-7B14-A1F5-9CB0-ECCB95D1AF01}"/>
              </a:ext>
            </a:extLst>
          </p:cNvPr>
          <p:cNvSpPr txBox="1"/>
          <p:nvPr/>
        </p:nvSpPr>
        <p:spPr>
          <a:xfrm>
            <a:off x="0" y="0"/>
            <a:ext cx="12192000" cy="462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Conclusion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Smart farming boosts productivity</a:t>
            </a:r>
            <a:br>
              <a:rPr lang="en-US" sz="2200" dirty="0"/>
            </a:br>
            <a:r>
              <a:rPr lang="en-US" sz="2200" dirty="0"/>
              <a:t>• Tech improves decision-making</a:t>
            </a:r>
            <a:br>
              <a:rPr lang="en-US" sz="2200" dirty="0"/>
            </a:br>
            <a:r>
              <a:rPr lang="en-US" sz="2200" dirty="0"/>
              <a:t>• Kenya benefits from innovation</a:t>
            </a:r>
            <a:br>
              <a:rPr lang="en-US" sz="2200" dirty="0"/>
            </a:br>
            <a:r>
              <a:rPr lang="en-US" sz="2200" dirty="0"/>
              <a:t>• Continued growth is possible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909E75-74B4-CF5B-6F20-DE2F3E937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131" y="2884706"/>
            <a:ext cx="6348045" cy="390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87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F0746-75DE-D375-BB0E-3D281352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B6CC50-D116-4319-C10D-0CA81346D041}"/>
              </a:ext>
            </a:extLst>
          </p:cNvPr>
          <p:cNvSpPr txBox="1"/>
          <p:nvPr/>
        </p:nvSpPr>
        <p:spPr>
          <a:xfrm>
            <a:off x="0" y="0"/>
            <a:ext cx="12192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</a:t>
            </a:r>
          </a:p>
          <a:p>
            <a:pPr algn="ctr"/>
            <a:endParaRPr lang="en-US" sz="6000" dirty="0"/>
          </a:p>
          <a:p>
            <a:pPr algn="ctr"/>
            <a:endParaRPr lang="en-US" sz="6000" dirty="0"/>
          </a:p>
          <a:p>
            <a:pPr algn="ctr"/>
            <a:r>
              <a:rPr lang="en-US" sz="6000" dirty="0"/>
              <a:t>Thank you for listening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835207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108</TotalTime>
  <Words>393</Words>
  <Application>Microsoft Office PowerPoint</Application>
  <PresentationFormat>Widescreen</PresentationFormat>
  <Paragraphs>38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 Ndumbi</dc:creator>
  <cp:lastModifiedBy>Grace Ndumbi</cp:lastModifiedBy>
  <cp:revision>2</cp:revision>
  <dcterms:created xsi:type="dcterms:W3CDTF">2026-01-29T06:18:51Z</dcterms:created>
  <dcterms:modified xsi:type="dcterms:W3CDTF">2026-01-29T08:07:34Z</dcterms:modified>
</cp:coreProperties>
</file>