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7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6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71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7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8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8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0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7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26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686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50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43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25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22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04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A4D00-0B87-4240-B1BD-3E6166E90FF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C99BD-710F-43DC-A284-255E422D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150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91547A-DF55-AB30-C77F-1AD343B7D11E}"/>
              </a:ext>
            </a:extLst>
          </p:cNvPr>
          <p:cNvSpPr txBox="1"/>
          <p:nvPr/>
        </p:nvSpPr>
        <p:spPr>
          <a:xfrm>
            <a:off x="0" y="0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sz="2800" b="1" dirty="0"/>
              <a:t>Digital Addiction &amp; Social Media Overuse</a:t>
            </a:r>
            <a:br>
              <a:rPr lang="en-US" dirty="0"/>
            </a:br>
            <a:r>
              <a:rPr lang="en-US" sz="2200" dirty="0"/>
              <a:t>Capstone Project</a:t>
            </a:r>
          </a:p>
          <a:p>
            <a:pPr algn="ctr">
              <a:lnSpc>
                <a:spcPct val="250000"/>
              </a:lnSpc>
            </a:pPr>
            <a:r>
              <a:rPr lang="en-US" sz="2200" dirty="0"/>
              <a:t>BBIT</a:t>
            </a:r>
          </a:p>
          <a:p>
            <a:pPr algn="ctr">
              <a:lnSpc>
                <a:spcPct val="250000"/>
              </a:lnSpc>
            </a:pPr>
            <a:r>
              <a:rPr lang="en-US" sz="2200" dirty="0"/>
              <a:t>Grace Wanjiru Ndumbi</a:t>
            </a:r>
          </a:p>
          <a:p>
            <a:pPr algn="ctr">
              <a:lnSpc>
                <a:spcPct val="250000"/>
              </a:lnSpc>
            </a:pPr>
            <a:r>
              <a:rPr lang="en-US" sz="2200" dirty="0"/>
              <a:t>C027-01-1006/2022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33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21138-6779-C7D7-FAC9-60F9F347C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7ABB30-DBB2-2D4C-7FA6-00016A77FF02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Introduction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Digital devices are widely used.</a:t>
            </a:r>
            <a:br>
              <a:rPr lang="en-US" sz="2200" dirty="0"/>
            </a:br>
            <a:r>
              <a:rPr lang="en-US" sz="2200" dirty="0"/>
              <a:t>• Social media is highly engaging.</a:t>
            </a:r>
            <a:br>
              <a:rPr lang="en-US" sz="2200" dirty="0"/>
            </a:br>
            <a:r>
              <a:rPr lang="en-US" sz="2200" dirty="0"/>
              <a:t>• Overuse affects daily life.</a:t>
            </a:r>
            <a:br>
              <a:rPr lang="en-US" sz="2200" dirty="0"/>
            </a:br>
            <a:r>
              <a:rPr lang="en-US" sz="2200" dirty="0"/>
              <a:t>• Mental health and work are impacted.</a:t>
            </a:r>
            <a:br>
              <a:rPr lang="en-US" sz="2200" dirty="0"/>
            </a:br>
            <a:r>
              <a:rPr lang="en-US" sz="2200" dirty="0"/>
              <a:t>• Need awareness and solutions.</a:t>
            </a:r>
          </a:p>
        </p:txBody>
      </p:sp>
    </p:spTree>
    <p:extLst>
      <p:ext uri="{BB962C8B-B14F-4D97-AF65-F5344CB8AC3E}">
        <p14:creationId xmlns:p14="http://schemas.microsoft.com/office/powerpoint/2010/main" val="11732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2138C-93A4-7D42-6F78-491A3087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558F4A-4E9C-1976-918E-F7A87CE50457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What Is Digital Addiction?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Excessive use of digital devices.</a:t>
            </a:r>
            <a:br>
              <a:rPr lang="en-US" sz="2200" dirty="0"/>
            </a:br>
            <a:r>
              <a:rPr lang="en-US" sz="2200" dirty="0"/>
              <a:t>• Compulsive social media checking.</a:t>
            </a:r>
            <a:br>
              <a:rPr lang="en-US" sz="2200" dirty="0"/>
            </a:br>
            <a:r>
              <a:rPr lang="en-US" sz="2200" dirty="0"/>
              <a:t>• Loss of control over usage.</a:t>
            </a:r>
            <a:br>
              <a:rPr lang="en-US" sz="2200" dirty="0"/>
            </a:br>
            <a:r>
              <a:rPr lang="en-US" sz="2200" dirty="0"/>
              <a:t>• Interferes with sleep and focus.</a:t>
            </a:r>
            <a:br>
              <a:rPr lang="en-US" sz="2200" dirty="0"/>
            </a:br>
            <a:r>
              <a:rPr lang="en-US" sz="2200" dirty="0"/>
              <a:t>• Affects relationships and well-being.</a:t>
            </a:r>
          </a:p>
        </p:txBody>
      </p:sp>
    </p:spTree>
    <p:extLst>
      <p:ext uri="{BB962C8B-B14F-4D97-AF65-F5344CB8AC3E}">
        <p14:creationId xmlns:p14="http://schemas.microsoft.com/office/powerpoint/2010/main" val="4119923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5631-C07F-D173-D36A-3B8F6EE7B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F68716-D831-0B9A-7A23-F005D60F9ABC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Causes of Digital Addiction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Smartphones &amp; notifications.</a:t>
            </a:r>
            <a:br>
              <a:rPr lang="en-US" sz="2200" dirty="0"/>
            </a:br>
            <a:r>
              <a:rPr lang="en-US" sz="2200" dirty="0"/>
              <a:t>• Peer pressure and FOMO.</a:t>
            </a:r>
            <a:br>
              <a:rPr lang="en-US" sz="2200" dirty="0"/>
            </a:br>
            <a:r>
              <a:rPr lang="en-US" sz="2200" dirty="0"/>
              <a:t>• Entertainment and streaming platforms.</a:t>
            </a:r>
            <a:br>
              <a:rPr lang="en-US" sz="2200" dirty="0"/>
            </a:br>
            <a:r>
              <a:rPr lang="en-US" sz="2200" dirty="0"/>
              <a:t>• Lack of digital literacy.</a:t>
            </a:r>
            <a:br>
              <a:rPr lang="en-US" sz="2200" dirty="0"/>
            </a:br>
            <a:r>
              <a:rPr lang="en-US" sz="2200" dirty="0"/>
              <a:t>• Work and study online demands.</a:t>
            </a:r>
          </a:p>
        </p:txBody>
      </p:sp>
    </p:spTree>
    <p:extLst>
      <p:ext uri="{BB962C8B-B14F-4D97-AF65-F5344CB8AC3E}">
        <p14:creationId xmlns:p14="http://schemas.microsoft.com/office/powerpoint/2010/main" val="277250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69A7-6E10-CD5E-6596-6F16952CD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7CE71-0FC6-C1BD-D17E-843255C3ABCC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Effects on Mental Health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Anxiety and stress.</a:t>
            </a:r>
            <a:br>
              <a:rPr lang="en-US" sz="2200" dirty="0"/>
            </a:br>
            <a:r>
              <a:rPr lang="en-US" sz="2200" dirty="0"/>
              <a:t>• Depression and loneliness.</a:t>
            </a:r>
            <a:br>
              <a:rPr lang="en-US" sz="2200" dirty="0"/>
            </a:br>
            <a:r>
              <a:rPr lang="en-US" sz="2200" dirty="0"/>
              <a:t>• Reduced attention span.</a:t>
            </a:r>
            <a:br>
              <a:rPr lang="en-US" sz="2200" dirty="0"/>
            </a:br>
            <a:r>
              <a:rPr lang="en-US" sz="2200" dirty="0"/>
              <a:t>• Poor sleep quality.</a:t>
            </a:r>
            <a:br>
              <a:rPr lang="en-US" sz="2200" dirty="0"/>
            </a:br>
            <a:r>
              <a:rPr lang="en-US" sz="2200" dirty="0"/>
              <a:t>• Emotional dependency on devices.</a:t>
            </a:r>
          </a:p>
        </p:txBody>
      </p:sp>
    </p:spTree>
    <p:extLst>
      <p:ext uri="{BB962C8B-B14F-4D97-AF65-F5344CB8AC3E}">
        <p14:creationId xmlns:p14="http://schemas.microsoft.com/office/powerpoint/2010/main" val="3711265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E16C-4776-EEB4-1A2B-AC6EEC39A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76B3F2-E618-1BA7-D739-BA5C6C957A2E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Effects on Productivity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Distraction from work or study.</a:t>
            </a:r>
            <a:br>
              <a:rPr lang="en-US" sz="2200" dirty="0"/>
            </a:br>
            <a:r>
              <a:rPr lang="en-US" sz="2200" dirty="0"/>
              <a:t>• Time wasted scrolling feeds.</a:t>
            </a:r>
            <a:br>
              <a:rPr lang="en-US" sz="2200" dirty="0"/>
            </a:br>
            <a:r>
              <a:rPr lang="en-US" sz="2200" dirty="0"/>
              <a:t>• Lower academic performance.</a:t>
            </a:r>
            <a:br>
              <a:rPr lang="en-US" sz="2200" dirty="0"/>
            </a:br>
            <a:r>
              <a:rPr lang="en-US" sz="2200" dirty="0"/>
              <a:t>• Reduced creativity and focus.</a:t>
            </a:r>
            <a:br>
              <a:rPr lang="en-US" sz="2200" dirty="0"/>
            </a:br>
            <a:r>
              <a:rPr lang="en-US" sz="2200" dirty="0"/>
              <a:t>• Procrastination habits.</a:t>
            </a:r>
          </a:p>
        </p:txBody>
      </p:sp>
    </p:spTree>
    <p:extLst>
      <p:ext uri="{BB962C8B-B14F-4D97-AF65-F5344CB8AC3E}">
        <p14:creationId xmlns:p14="http://schemas.microsoft.com/office/powerpoint/2010/main" val="2248184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E6E0E-60BB-C966-2107-8A3DBAC9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360153-37F1-5DD1-960D-8A7ACE2B1D54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Proposed Solutions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Awareness campaigns on risks.</a:t>
            </a:r>
            <a:br>
              <a:rPr lang="en-US" sz="2200" dirty="0"/>
            </a:br>
            <a:r>
              <a:rPr lang="en-US" sz="2200" dirty="0"/>
              <a:t>• Digital wellness and self-control apps.</a:t>
            </a:r>
            <a:br>
              <a:rPr lang="en-US" sz="2200" dirty="0"/>
            </a:br>
            <a:r>
              <a:rPr lang="en-US" sz="2200" dirty="0"/>
              <a:t>• Scheduled device-free times.</a:t>
            </a:r>
            <a:br>
              <a:rPr lang="en-US" sz="2200" dirty="0"/>
            </a:br>
            <a:r>
              <a:rPr lang="en-US" sz="2200" dirty="0"/>
              <a:t>• Educate youth on healthy usage.</a:t>
            </a:r>
            <a:br>
              <a:rPr lang="en-US" sz="2200" dirty="0"/>
            </a:br>
            <a:r>
              <a:rPr lang="en-US" sz="2200" dirty="0"/>
              <a:t>• Balance entertainment and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188093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53D34-D953-81B6-C9B3-4DD51F9E5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53B21E-DCFA-EF86-4659-834F237BBBB5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Role of Schools &amp; Communities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Digital literacy programs.</a:t>
            </a:r>
            <a:br>
              <a:rPr lang="en-US" sz="2200" dirty="0"/>
            </a:br>
            <a:r>
              <a:rPr lang="en-US" sz="2200" dirty="0"/>
              <a:t>• Encourage offline hobbies.</a:t>
            </a:r>
            <a:br>
              <a:rPr lang="en-US" sz="2200" dirty="0"/>
            </a:br>
            <a:r>
              <a:rPr lang="en-US" sz="2200" dirty="0"/>
              <a:t>• Parental guidance and mentoring.</a:t>
            </a:r>
            <a:br>
              <a:rPr lang="en-US" sz="2200" dirty="0"/>
            </a:br>
            <a:r>
              <a:rPr lang="en-US" sz="2200" dirty="0"/>
              <a:t>• Promote social interaction.</a:t>
            </a:r>
            <a:br>
              <a:rPr lang="en-US" sz="2200" dirty="0"/>
            </a:br>
            <a:r>
              <a:rPr lang="en-US" sz="2200" dirty="0"/>
              <a:t>• Monitor and guide screen time.</a:t>
            </a:r>
          </a:p>
        </p:txBody>
      </p:sp>
    </p:spTree>
    <p:extLst>
      <p:ext uri="{BB962C8B-B14F-4D97-AF65-F5344CB8AC3E}">
        <p14:creationId xmlns:p14="http://schemas.microsoft.com/office/powerpoint/2010/main" val="1919070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C7CEE-5099-2F54-15D1-D03CD9DD1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8F25AD-C6D2-6D87-1874-46D0A97E536E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Role of Government &amp; Industry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Enforce responsible platform design.</a:t>
            </a:r>
            <a:br>
              <a:rPr lang="en-US" sz="2200" dirty="0"/>
            </a:br>
            <a:r>
              <a:rPr lang="en-US" sz="2200" dirty="0"/>
              <a:t>• Regulate addictive features.</a:t>
            </a:r>
            <a:br>
              <a:rPr lang="en-US" sz="2200" dirty="0"/>
            </a:br>
            <a:r>
              <a:rPr lang="en-US" sz="2200" dirty="0"/>
              <a:t>• Support mental health initiatives.</a:t>
            </a:r>
            <a:br>
              <a:rPr lang="en-US" sz="2200" dirty="0"/>
            </a:br>
            <a:r>
              <a:rPr lang="en-US" sz="2200" dirty="0"/>
              <a:t>• Provide public awareness campaigns.</a:t>
            </a:r>
            <a:br>
              <a:rPr lang="en-US" sz="2200" dirty="0"/>
            </a:br>
            <a:r>
              <a:rPr lang="en-US" sz="2200" dirty="0"/>
              <a:t>• Incentivize balanced tech use.</a:t>
            </a:r>
          </a:p>
        </p:txBody>
      </p:sp>
    </p:spTree>
    <p:extLst>
      <p:ext uri="{BB962C8B-B14F-4D97-AF65-F5344CB8AC3E}">
        <p14:creationId xmlns:p14="http://schemas.microsoft.com/office/powerpoint/2010/main" val="652665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5CB33-29A5-B9F8-A208-7DF4300E1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991D54-AFBC-94BF-C920-92E7BFDC13C8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Benefits of Managing Usage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Improved mental health.</a:t>
            </a:r>
            <a:br>
              <a:rPr lang="en-US" sz="2200" dirty="0"/>
            </a:br>
            <a:r>
              <a:rPr lang="en-US" sz="2200" dirty="0"/>
              <a:t>• Increased focus and productivity.</a:t>
            </a:r>
            <a:br>
              <a:rPr lang="en-US" sz="2200" dirty="0"/>
            </a:br>
            <a:r>
              <a:rPr lang="en-US" sz="2200" dirty="0"/>
              <a:t>• Better sleep and lifestyle balance.</a:t>
            </a:r>
            <a:br>
              <a:rPr lang="en-US" sz="2200" dirty="0"/>
            </a:br>
            <a:r>
              <a:rPr lang="en-US" sz="2200" dirty="0"/>
              <a:t>• Stronger relationships.</a:t>
            </a:r>
            <a:br>
              <a:rPr lang="en-US" sz="2200" dirty="0"/>
            </a:br>
            <a:r>
              <a:rPr lang="en-US" sz="2200" dirty="0"/>
              <a:t>• Responsible use of technology.</a:t>
            </a:r>
          </a:p>
        </p:txBody>
      </p:sp>
    </p:spTree>
    <p:extLst>
      <p:ext uri="{BB962C8B-B14F-4D97-AF65-F5344CB8AC3E}">
        <p14:creationId xmlns:p14="http://schemas.microsoft.com/office/powerpoint/2010/main" val="1756613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60649-1475-4E66-0F7D-143083F9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1491E9-EE87-7ED2-986C-786CBB37D40E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Challenges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Resistance to change.</a:t>
            </a:r>
            <a:br>
              <a:rPr lang="en-US" sz="2200" dirty="0"/>
            </a:br>
            <a:r>
              <a:rPr lang="en-US" sz="2200" dirty="0"/>
              <a:t>• Habitual behavior is strong.</a:t>
            </a:r>
            <a:br>
              <a:rPr lang="en-US" sz="2200" dirty="0"/>
            </a:br>
            <a:r>
              <a:rPr lang="en-US" sz="2200" dirty="0"/>
              <a:t>• Peer pressure to stay online.</a:t>
            </a:r>
            <a:br>
              <a:rPr lang="en-US" sz="2200" dirty="0"/>
            </a:br>
            <a:r>
              <a:rPr lang="en-US" sz="2200" dirty="0"/>
              <a:t>• Work/study often requires screens.</a:t>
            </a:r>
            <a:br>
              <a:rPr lang="en-US" sz="2200" dirty="0"/>
            </a:br>
            <a:r>
              <a:rPr lang="en-US" sz="2200" dirty="0"/>
              <a:t>• Overreliance on digital tools.</a:t>
            </a:r>
          </a:p>
        </p:txBody>
      </p:sp>
    </p:spTree>
    <p:extLst>
      <p:ext uri="{BB962C8B-B14F-4D97-AF65-F5344CB8AC3E}">
        <p14:creationId xmlns:p14="http://schemas.microsoft.com/office/powerpoint/2010/main" val="530104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17E1-F97C-C7AF-45FD-8D184769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06C1FE-C441-948C-01DE-D2A6E4F0FA9A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Opportunities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Develop digital wellness apps.</a:t>
            </a:r>
            <a:br>
              <a:rPr lang="en-US" sz="2200" dirty="0"/>
            </a:br>
            <a:r>
              <a:rPr lang="en-US" sz="2200" dirty="0"/>
              <a:t>• Promote tech education in schools.</a:t>
            </a:r>
            <a:br>
              <a:rPr lang="en-US" sz="2200" dirty="0"/>
            </a:br>
            <a:r>
              <a:rPr lang="en-US" sz="2200" dirty="0"/>
              <a:t>• Research on healthy tech use.</a:t>
            </a:r>
            <a:br>
              <a:rPr lang="en-US" sz="2200" dirty="0"/>
            </a:br>
            <a:r>
              <a:rPr lang="en-US" sz="2200" dirty="0"/>
              <a:t>• Youth leadership in awareness campaigns.</a:t>
            </a:r>
            <a:br>
              <a:rPr lang="en-US" sz="2200" dirty="0"/>
            </a:br>
            <a:r>
              <a:rPr lang="en-US" sz="2200" dirty="0"/>
              <a:t>• Balance between online/offline life.</a:t>
            </a:r>
          </a:p>
        </p:txBody>
      </p:sp>
    </p:spTree>
    <p:extLst>
      <p:ext uri="{BB962C8B-B14F-4D97-AF65-F5344CB8AC3E}">
        <p14:creationId xmlns:p14="http://schemas.microsoft.com/office/powerpoint/2010/main" val="774574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A72B0-664B-7BF4-4191-324DD6143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C0CC72-6835-44A3-85C7-04E844E988B3}"/>
              </a:ext>
            </a:extLst>
          </p:cNvPr>
          <p:cNvSpPr txBox="1"/>
          <p:nvPr/>
        </p:nvSpPr>
        <p:spPr>
          <a:xfrm>
            <a:off x="0" y="0"/>
            <a:ext cx="12192000" cy="547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Conclusion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Digital addiction is serious.</a:t>
            </a:r>
            <a:br>
              <a:rPr lang="en-US" sz="2200" dirty="0"/>
            </a:br>
            <a:r>
              <a:rPr lang="en-US" sz="2200" dirty="0"/>
              <a:t>• Mental health and productivity are impacted.</a:t>
            </a:r>
            <a:br>
              <a:rPr lang="en-US" sz="2200" dirty="0"/>
            </a:br>
            <a:r>
              <a:rPr lang="en-US" sz="2200" dirty="0"/>
              <a:t>• Awareness, tools, and policies help.</a:t>
            </a:r>
            <a:br>
              <a:rPr lang="en-US" sz="2200" dirty="0"/>
            </a:br>
            <a:r>
              <a:rPr lang="en-US" sz="2200" dirty="0"/>
              <a:t>• Everyone has a role.</a:t>
            </a:r>
            <a:br>
              <a:rPr lang="en-US" sz="2200" dirty="0"/>
            </a:br>
            <a:r>
              <a:rPr lang="en-US" sz="2200" dirty="0"/>
              <a:t>• Balance is key.</a:t>
            </a:r>
          </a:p>
        </p:txBody>
      </p:sp>
    </p:spTree>
    <p:extLst>
      <p:ext uri="{BB962C8B-B14F-4D97-AF65-F5344CB8AC3E}">
        <p14:creationId xmlns:p14="http://schemas.microsoft.com/office/powerpoint/2010/main" val="2604888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FD18D-FB08-6E79-0B66-D380E392F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5035B7-DE2E-D831-A637-52C0062231FA}"/>
              </a:ext>
            </a:extLst>
          </p:cNvPr>
          <p:cNvSpPr txBox="1"/>
          <p:nvPr/>
        </p:nvSpPr>
        <p:spPr>
          <a:xfrm>
            <a:off x="0" y="0"/>
            <a:ext cx="12192000" cy="3407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endParaRPr lang="en-US" sz="2800" b="1" dirty="0"/>
          </a:p>
          <a:p>
            <a:pPr algn="ctr">
              <a:lnSpc>
                <a:spcPct val="200000"/>
              </a:lnSpc>
            </a:pPr>
            <a:endParaRPr lang="en-US" sz="2800" b="1" dirty="0"/>
          </a:p>
          <a:p>
            <a:pPr algn="ctr">
              <a:lnSpc>
                <a:spcPct val="200000"/>
              </a:lnSpc>
            </a:pPr>
            <a:endParaRPr lang="en-US" sz="2800" b="1" dirty="0"/>
          </a:p>
          <a:p>
            <a:pPr algn="ctr">
              <a:lnSpc>
                <a:spcPct val="200000"/>
              </a:lnSpc>
            </a:pPr>
            <a:r>
              <a:rPr lang="en-US" sz="2800" b="1" dirty="0"/>
              <a:t>Thank you for listening.</a:t>
            </a:r>
          </a:p>
        </p:txBody>
      </p:sp>
    </p:spTree>
    <p:extLst>
      <p:ext uri="{BB962C8B-B14F-4D97-AF65-F5344CB8AC3E}">
        <p14:creationId xmlns:p14="http://schemas.microsoft.com/office/powerpoint/2010/main" val="3928031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22</TotalTime>
  <Words>471</Words>
  <Application>Microsoft Office PowerPoint</Application>
  <PresentationFormat>Widescreen</PresentationFormat>
  <Paragraphs>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Bookman Old Style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Ndumbi</dc:creator>
  <cp:lastModifiedBy>Grace Ndumbi</cp:lastModifiedBy>
  <cp:revision>2</cp:revision>
  <dcterms:created xsi:type="dcterms:W3CDTF">2026-01-29T08:53:08Z</dcterms:created>
  <dcterms:modified xsi:type="dcterms:W3CDTF">2026-01-29T09:15:09Z</dcterms:modified>
</cp:coreProperties>
</file>